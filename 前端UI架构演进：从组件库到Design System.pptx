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5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大家好，今天我将和大家探讨一个前端领域正在发生的深刻变革——UI架构的演进。我们将一起看看，从我们熟悉的组件库，到如今备受关注的Design System，这背后究竟发生了什么。特别是无头组件和Tailwind CSS，它们是如何重构我们前端UI的开发方式，并开启AI时代的新范式的。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本次分享将围绕八个核心部分展开。首先，我们会回顾传统UI架构的痛点。接着，深入剖析Headless UI和Tailwind的核心价值。然后，我们将重点介绍shadcn/ui带来的范式革新，并探讨AI如何赋能UI开发。最后，进行总结并给出实战建议。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我们先从一个灵魂拷问开始：为什么现在越来越多的团队，开始放弃像Ant Design、Element Plus这样成熟的传统UI框架？大家可以看到，行业的风向正在从这些重型框架转向shadcn/ui这样的新范式。这背后反映的是，我们过去依赖的模式遇到了瓶颈，而新的技术正在从底层重构我们的工作方式。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传统UI组件的核心特点是“强耦合”。一个组件内部，逻辑、样式和DOM结构是紧密绑定在一起的。这种模式的好处显而易见：开箱即用，新手也能快速上手。但它的代价也同样巨大，随着业务复杂度的增加，这种强耦合会导致维护成本急剧上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来说，我们每天都在面对三大痛点。第一，样式失控，为了覆盖组件默认样式，我们陷入了!important的地狱。第二，组件黑盒，复杂组件的内部逻辑封闭，任何微小的改动都可能导致崩溃。第三，设计系统割裂，设计师的想法很难被前端完美实现，导致设计和开发脱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面对这些痛点，我们需要回到问题的本质：一个UI组件，到底应该负责什么？答案其实很简单：它应该只负责核心的逻辑和交互，而把视觉样式的控制权完全交还给开发者。这意味着，逻辑与视觉必须彻底解耦。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这就是Headless UI，也就是“无头组件”的核心思想。它只提供组件的行为，比如状态管理、键盘操作、无障碍支持等，而完全不提供任何样式。它把视觉的决定权完全交给了你，让你可以自由地使用任何CSS方案来美化它。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这种思想带来了架构范式的根本转变。传统组件库是一个黑盒，逻辑、样式、DOM强耦合。而Headless UI架构则是分层的：底层是行为逻辑层，由Radix这样的库提供；中间是视觉层，由Tailwind这样的工具来实现；最上层是业务层，我们可以自由定制。这种解耦的架构更加灵活和强大。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一个具体的例子，下拉菜单。传统的Select组件，你拿到手就是一个固定样式的控件，想要定制非常困难。而使用Headless模式，你得到的是一个可以控制其打开/关闭状态的菜单逻辑，DOM结构、样式、布局完全由你掌控，可以100%贴合你的业务设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那么，Headless UI的核心价值是什么？首先，它实现了逻辑的复用，一套交互逻辑可以搭配多种视觉风格。其次，它原生内置了无障碍支持，这是现代应用的必备要求。最重要的是，它没有任何样式入侵，可以完美融入任何设计系统，真正实现了逻辑与视觉的分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谈到视觉层，就必须提到Tailwind。很多人认为它只是原子CSS，但这没有触及本质。Tailwind的本质是“设计令牌运行时”。你看到的p-4、text-sm这些类名，背后是一套统一的间距、圆角、排版规范。它用统一的约束，取代了无限制的自由，让团队的设计实现保持一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ailwind解决了传统CSS在团队协作中的核心问题。传统CSS中，每个人可能用不同的数值、不同的命名方式，导致设计失控。而Tailwind通过统一的Token和全局约束，消除了命名歧义，让整个团队的输出保持高度一致，即使是大型项目也能变得更加可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Tailwind与设计系统结合时，它就变成了设计系统的“运行时”。我们可以在`tailwind.config.js`中集中配置所有设计令牌，实现一键换肤。设计师的设计稿可以直接映射为代码，真正打通了设计与研发之间的壁垒，实现了一体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这里我想引用一句话来总结Tailwind的价值：“Tailwind并不是在消灭CSS，而是在消灭失控的CSS。” 它给了我们一种更科学、更规范的方式来写CSS。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看看shadcn/ui，它代表了一种全新的思路。它不是一个传统的组件库，而是一个“资产方案”。它的核心逻辑非常简单：不通过npm安装，而是直接把组件源码复制到你的项目里。这彻底改变了关系，不再是你去适配组件库，而是组件库来适配你，让UI真正成为团队的自有资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为什么说shadcn/ui代表了未来？因为它解决了传统组件库的几大顽疾。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首先是无锁死，你可以随意修改任何代码，拒绝被供应商绑定。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其次是无升级包袱，因为代码就在你自己的项目里，无需担心升级带来的风险。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再者，它原生使用Tailwind，与设计系统完美融合，定制体验极佳。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最后，它极其轻量，没有任何运行时开销，对性能极其友好。这四点让它成为了前端开发的一个极具潜力的新范式。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总结一下shadcn/ui的价值，它最大的创新在于“所有权”。它将组件的所有权从第三方库那里，交还给了我们自己的业务团队。我们不再被外部依赖所绑架，这是前端UI交付方式的一次本质变革。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再次强调，shadcn/ui最大的创新，不是它提供了多少漂亮的组件，而是它赋予了我们“所有权”。这彻底改变了我们处理UI组件的方式。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现在我们进入AI时代。AI编码正在重新定义UI开发。AI擅长处理标准化、Token化的无歧义信息，而头疼于自定义命名和复杂逻辑。在这种背景下，Tailwind这种基于Token的UI DSL，就成了AI时代最友好的工具，因为它高度可预测、可生成、可推理。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 AI 与 shadcn/ui 结合，我们就得到了一种全新的开发方式。使用 Cursor、豆包或通义这样的 AI 工具，你只需要输入一个需求，比如“生成一个现代化 SaaS 后台首页”，AI 就能直接输出包含 Tailwind 样式、shadcn/ui 组件、支持响应式和暗黑模式的、几乎可以直接上线的代码。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这引出了一个重要的结论：在AI时代，我们最重要的工作，不再是手动写UI代码，而是去定义一个好的、标准化的UI系统。一旦系统定义好了，AI就能帮我们完成大部分重复性的工作。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总结一下，下一代前端UI架构将呈现四大趋势：无头化，实现逻辑与视觉的彻底解耦；Token化，让设计系统成为核心基础设施；AI Native，UI开发将以生成为主；以及资产化，让组件真正成为团队的自有资产。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这对我们前端工程师的角色也提出了新的要求。未来的前端工程师，将不再仅仅是“写页面”的程序员，而是要转型为能够设计可组合、可生成、可扩展的UI系统的架构师。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所以，未来的前端工程师，将越来越像一个“UI架构师”。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接下来，我将通过三个实战案例来直观展示这些技术的威力。首先是对比Antd和shadcn/ui在定制效率上的差异。然后演示如何通过修改Tailwind配置实现一键换肤。最后，我会现场使用Cursor AI，在10秒内生成一个可落地的后台页面。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最后，给大家一些落地建议。我推荐的技术栈是Radix UI、Tailwind和shadcn/ui的组合，配合Storybook和Cursor等工具链。迁移时可以采用新模块先行的策略，逐步替换旧代码，最终实现全面统一。我的分享到此结束，感谢大家的聆听，现在是问答环节，欢迎交流。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18" Type="http://schemas.openxmlformats.org/officeDocument/2006/relationships/image" Target="../media/image25.png"/><Relationship Id="rId3" Type="http://schemas.openxmlformats.org/officeDocument/2006/relationships/image" Target="../media/image2.jpeg"/><Relationship Id="rId21" Type="http://schemas.openxmlformats.org/officeDocument/2006/relationships/image" Target="../media/image28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24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7.svg"/><Relationship Id="rId15" Type="http://schemas.openxmlformats.org/officeDocument/2006/relationships/image" Target="../media/image9.svg"/><Relationship Id="rId10" Type="http://schemas.openxmlformats.org/officeDocument/2006/relationships/image" Target="../media/image19.png"/><Relationship Id="rId19" Type="http://schemas.openxmlformats.org/officeDocument/2006/relationships/image" Target="../media/image26.svg"/><Relationship Id="rId4" Type="http://schemas.openxmlformats.org/officeDocument/2006/relationships/image" Target="../media/image6.png"/><Relationship Id="rId9" Type="http://schemas.openxmlformats.org/officeDocument/2006/relationships/image" Target="../media/image18.svg"/><Relationship Id="rId1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jpe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11" Type="http://schemas.openxmlformats.org/officeDocument/2006/relationships/image" Target="../media/image40.svg"/><Relationship Id="rId5" Type="http://schemas.openxmlformats.org/officeDocument/2006/relationships/image" Target="../media/image34.sv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2.jpe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30.jpeg"/><Relationship Id="rId9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2.jpeg"/><Relationship Id="rId7" Type="http://schemas.openxmlformats.org/officeDocument/2006/relationships/image" Target="../media/image49.png"/><Relationship Id="rId12" Type="http://schemas.openxmlformats.org/officeDocument/2006/relationships/image" Target="../media/image5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sv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svg"/><Relationship Id="rId4" Type="http://schemas.openxmlformats.org/officeDocument/2006/relationships/image" Target="../media/image30.jpeg"/><Relationship Id="rId9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2.jpeg"/><Relationship Id="rId7" Type="http://schemas.openxmlformats.org/officeDocument/2006/relationships/image" Target="../media/image57.png"/><Relationship Id="rId12" Type="http://schemas.openxmlformats.org/officeDocument/2006/relationships/image" Target="../media/image6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6.sv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svg"/><Relationship Id="rId4" Type="http://schemas.openxmlformats.org/officeDocument/2006/relationships/image" Target="../media/image5.jpeg"/><Relationship Id="rId9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jpeg"/><Relationship Id="rId7" Type="http://schemas.openxmlformats.org/officeDocument/2006/relationships/image" Target="../media/image66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5.png"/><Relationship Id="rId11" Type="http://schemas.openxmlformats.org/officeDocument/2006/relationships/image" Target="../media/image68.svg"/><Relationship Id="rId5" Type="http://schemas.openxmlformats.org/officeDocument/2006/relationships/image" Target="../media/image64.svg"/><Relationship Id="rId10" Type="http://schemas.openxmlformats.org/officeDocument/2006/relationships/image" Target="../media/image67.png"/><Relationship Id="rId4" Type="http://schemas.openxmlformats.org/officeDocument/2006/relationships/image" Target="../media/image63.png"/><Relationship Id="rId9" Type="http://schemas.openxmlformats.org/officeDocument/2006/relationships/image" Target="../media/image3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2.jpeg"/><Relationship Id="rId7" Type="http://schemas.openxmlformats.org/officeDocument/2006/relationships/image" Target="../media/image7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png"/><Relationship Id="rId5" Type="http://schemas.openxmlformats.org/officeDocument/2006/relationships/image" Target="../media/image70.svg"/><Relationship Id="rId4" Type="http://schemas.openxmlformats.org/officeDocument/2006/relationships/image" Target="../media/image69.png"/><Relationship Id="rId9" Type="http://schemas.openxmlformats.org/officeDocument/2006/relationships/image" Target="../media/image7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7.jpeg"/><Relationship Id="rId5" Type="http://schemas.openxmlformats.org/officeDocument/2006/relationships/image" Target="../media/image76.jpeg"/><Relationship Id="rId4" Type="http://schemas.openxmlformats.org/officeDocument/2006/relationships/image" Target="../media/image7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2.jpeg"/><Relationship Id="rId7" Type="http://schemas.openxmlformats.org/officeDocument/2006/relationships/image" Target="../media/image66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5.png"/><Relationship Id="rId5" Type="http://schemas.openxmlformats.org/officeDocument/2006/relationships/image" Target="../media/image80.svg"/><Relationship Id="rId4" Type="http://schemas.openxmlformats.org/officeDocument/2006/relationships/image" Target="../media/image79.png"/><Relationship Id="rId9" Type="http://schemas.openxmlformats.org/officeDocument/2006/relationships/image" Target="../media/image82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2.jpeg"/><Relationship Id="rId7" Type="http://schemas.openxmlformats.org/officeDocument/2006/relationships/image" Target="../media/image84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3.png"/><Relationship Id="rId5" Type="http://schemas.openxmlformats.org/officeDocument/2006/relationships/image" Target="../media/image48.svg"/><Relationship Id="rId10" Type="http://schemas.openxmlformats.org/officeDocument/2006/relationships/image" Target="../media/image87.png"/><Relationship Id="rId4" Type="http://schemas.openxmlformats.org/officeDocument/2006/relationships/image" Target="../media/image47.png"/><Relationship Id="rId9" Type="http://schemas.openxmlformats.org/officeDocument/2006/relationships/image" Target="../media/image8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F293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从组件库到 Design System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17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无头组件与 Tailwind 正在重构前端 UI 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 spc="10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前端 UI 架构演进 · AI 时代新范式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58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XXX 部门 / XXX / 2026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分享大纲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080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952500" y="1930400"/>
            <a:ext cx="76200" cy="7747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270000" y="1905000"/>
            <a:ext cx="76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159000" y="1905000"/>
            <a:ext cx="342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传统 UI 架构：痛点与困境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Pain Points &amp; Dilemmas of Traditional UI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009900"/>
            <a:ext cx="5080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3263900"/>
            <a:ext cx="76200" cy="7747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270000" y="3238500"/>
            <a:ext cx="76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159000" y="3238500"/>
            <a:ext cx="342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核心破局：Headless UI 原理与价值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Breakthrough: Principles &amp; Value of Headless UI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4235450"/>
            <a:ext cx="5080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52500" y="4470400"/>
            <a:ext cx="76200" cy="7747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270000" y="4445000"/>
            <a:ext cx="76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159000" y="4445000"/>
            <a:ext cx="342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趋势爆发：Tailwind 架构级意义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Trend Explosion: Architectural Significance of Tailwind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5461000"/>
            <a:ext cx="5080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52500" y="5613400"/>
            <a:ext cx="76200" cy="7747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270000" y="5588000"/>
            <a:ext cx="76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159000" y="5588000"/>
            <a:ext cx="342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未来标杆：shadcn/ui 范式革新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Future Benchmark: shadcn/ui Paradigm Innovation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350000" y="1778000"/>
            <a:ext cx="5080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540500" y="1930400"/>
            <a:ext cx="76200" cy="7747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858000" y="1905000"/>
            <a:ext cx="76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747000" y="1905000"/>
            <a:ext cx="342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 赋能：AI Coding 驱动 UI 变革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AI Empowerment: AI Coding Driven UI Revolution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350000" y="3009900"/>
            <a:ext cx="5080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540500" y="3263900"/>
            <a:ext cx="76200" cy="7747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858000" y="3238500"/>
            <a:ext cx="76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747000" y="3238500"/>
            <a:ext cx="342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趋势总结：下一代前端 UI 架构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Summary: The Next-Gen Frontend UI Architecture</a:t>
            </a:r>
          </a:p>
        </p:txBody>
      </p:sp>
      <p:sp>
        <p:nvSpPr>
          <p:cNvPr id="27" name="AutoShape 27"/>
          <p:cNvSpPr/>
          <p:nvPr/>
        </p:nvSpPr>
        <p:spPr>
          <a:xfrm>
            <a:off x="6350000" y="4235450"/>
            <a:ext cx="5080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540500" y="4470400"/>
            <a:ext cx="76200" cy="7747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858000" y="4445000"/>
            <a:ext cx="76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747000" y="4445000"/>
            <a:ext cx="342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实战 Demo 与落地建议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Practical Demo &amp; Implementation Guide</a:t>
            </a:r>
          </a:p>
        </p:txBody>
      </p:sp>
      <p:sp>
        <p:nvSpPr>
          <p:cNvPr id="31" name="AutoShape 31"/>
          <p:cNvSpPr/>
          <p:nvPr/>
        </p:nvSpPr>
        <p:spPr>
          <a:xfrm>
            <a:off x="6350000" y="5461000"/>
            <a:ext cx="5080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540500" y="5613400"/>
            <a:ext cx="76200" cy="7747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6858000" y="5588000"/>
            <a:ext cx="76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747000" y="5588000"/>
            <a:ext cx="342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 互动交流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Interactive Q&amp;A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开场灵魂拷问：为什么越来越多团队放弃传统 UI 框架？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</a:t>
            </a:r>
            <a:r>
              <a:rPr lang="en-US" sz="2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Ant Design</a:t>
            </a:r>
            <a:r>
              <a:rPr lang="en-US" sz="20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Element Plus</a:t>
            </a:r>
            <a:r>
              <a:rPr lang="en-US" sz="20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到</a:t>
            </a: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shadcn/ui</a:t>
            </a:r>
            <a:r>
              <a:rPr lang="en-US" sz="20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，前端 UI 正在发生范式级转移。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43000" y="2921000"/>
            <a:ext cx="889000" cy="889000"/>
          </a:xfrm>
          <a:prstGeom prst="roundRect">
            <a:avLst>
              <a:gd name="adj" fmla="val 17142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86000" y="2921000"/>
            <a:ext cx="889000" cy="889000"/>
          </a:xfrm>
          <a:prstGeom prst="roundRect">
            <a:avLst>
              <a:gd name="adj" fmla="val 1714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3429000" y="2921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过去 · 困境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43000" y="4064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组件库越做越重，样式固化，魔改越来越难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维护成本与定制需求的矛盾日益加剧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2667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rcRect l="29220" r="29220"/>
          <a:stretch>
            <a:fillRect/>
          </a:stretch>
        </p:blipFill>
        <p:spPr>
          <a:xfrm>
            <a:off x="6604000" y="2921000"/>
            <a:ext cx="1651000" cy="889000"/>
          </a:xfrm>
          <a:prstGeom prst="roundRect">
            <a:avLst>
              <a:gd name="adj" fmla="val 1714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8509000" y="29210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现在 · 破局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0" y="4064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Headless UI / Tailwind / shadcn/ui 全面崛起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完全掌控样式与逻辑，灵活性达到极致</a:t>
            </a:r>
          </a:p>
        </p:txBody>
      </p:sp>
      <p:sp>
        <p:nvSpPr>
          <p:cNvPr id="14" name="AutoShape 14"/>
          <p:cNvSpPr/>
          <p:nvPr/>
        </p:nvSpPr>
        <p:spPr>
          <a:xfrm>
            <a:off x="2286000" y="5461000"/>
            <a:ext cx="7620000" cy="889000"/>
          </a:xfrm>
          <a:prstGeom prst="roundRect">
            <a:avLst>
              <a:gd name="adj" fmla="val 11428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2286000" y="5461000"/>
            <a:ext cx="762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这不是新轮子，而是架构底层的重构。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传统 UI 组件：强耦合一体设计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016000"/>
          </a:xfrm>
          <a:prstGeom prst="roundRect">
            <a:avLst>
              <a:gd name="adj" fmla="val 15000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841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组件 = 逻辑 + 样式 + DOM 结构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（三者强绑定）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048000"/>
            <a:ext cx="5207000" cy="3048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34290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34036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核心优点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43000" y="4445000"/>
            <a:ext cx="444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✅ 开箱即用：无需复杂配置，直接上手开发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✅ 上手极快：降低新手入门门槛，快速产出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3048000"/>
            <a:ext cx="5207000" cy="3048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3429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239000" y="34036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主要代价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0" y="4445000"/>
            <a:ext cx="444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❌ 维护成本高：随着业务逻辑日趋复杂，代码变得难以拆分和复用，导致维护成本呈指数级上升。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传统组件三大核心痛点：我们每天都在面对的困境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13096" b="13096"/>
          <a:stretch>
            <a:fillRect/>
          </a:stretch>
        </p:blipFill>
        <p:spPr>
          <a:xfrm>
            <a:off x="952500" y="2095500"/>
            <a:ext cx="2921000" cy="1651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952500" y="3937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样式失控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4699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深度覆盖导致代码冗余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陷入</a:t>
            </a:r>
            <a:r>
              <a:rPr lang="en-US" sz="13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!important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优先级地狱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产品主题难以全局统一维护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905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635500" y="2095500"/>
            <a:ext cx="2921000" cy="1651000"/>
          </a:xfrm>
          <a:prstGeom prst="roundRect">
            <a:avLst>
              <a:gd name="adj" fmla="val 6153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64200" y="2413000"/>
            <a:ext cx="863600" cy="863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635500" y="3937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组件黑盒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4699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Table/Select 等内部逻辑封闭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微小样式修改引发：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DOM结构崩溃 / 状态异常 / 升级困难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905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318500" y="2095500"/>
            <a:ext cx="2921000" cy="1651000"/>
          </a:xfrm>
          <a:prstGeom prst="roundRect">
            <a:avLst>
              <a:gd name="adj" fmla="val 6153"/>
            </a:avLst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47200" y="2413000"/>
            <a:ext cx="863600" cy="863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318500" y="3937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设计系统割裂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18500" y="4699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设计师需求与前端实现难以对齐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设计语言无法有效落地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一处细节修改需牵动全局调整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核心追问：组件到底应该负责什么？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2159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答案是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3302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只负责逻辑与交互，不负责视觉样式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953000"/>
            <a:ext cx="1016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5270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→ 逻辑与视觉必须彻底解耦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Headless UI：无头组件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“只提供行为，不提供样式 — 释放 UI 设计的无限可能”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207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2578100"/>
            <a:ext cx="431800" cy="431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2514600"/>
            <a:ext cx="368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核心职责 (What it does)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429000"/>
            <a:ext cx="2222500" cy="1206500"/>
          </a:xfrm>
          <a:prstGeom prst="roundRect">
            <a:avLst>
              <a:gd name="adj" fmla="val 842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3000" y="3683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3619500"/>
            <a:ext cx="1460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状态管理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内部逻辑状态的自动维护与更新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492500" y="3429000"/>
            <a:ext cx="2222500" cy="1206500"/>
          </a:xfrm>
          <a:prstGeom prst="roundRect">
            <a:avLst>
              <a:gd name="adj" fmla="val 842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19500" y="3683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127500" y="3619500"/>
            <a:ext cx="1460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键盘交互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支持Tab、方向键等标准键盘导航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016000" y="4826000"/>
            <a:ext cx="2222500" cy="1206500"/>
          </a:xfrm>
          <a:prstGeom prst="roundRect">
            <a:avLst>
              <a:gd name="adj" fmla="val 842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3000" y="50800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51000" y="5016500"/>
            <a:ext cx="1460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无障碍访问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符合 ARIA 标准，适配读屏软件</a:t>
            </a:r>
          </a:p>
        </p:txBody>
      </p:sp>
      <p:sp>
        <p:nvSpPr>
          <p:cNvPr id="18" name="AutoShape 18"/>
          <p:cNvSpPr/>
          <p:nvPr/>
        </p:nvSpPr>
        <p:spPr>
          <a:xfrm>
            <a:off x="3492500" y="4826000"/>
            <a:ext cx="2222500" cy="1206500"/>
          </a:xfrm>
          <a:prstGeom prst="roundRect">
            <a:avLst>
              <a:gd name="adj" fmla="val 842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19500" y="50800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127500" y="5016500"/>
            <a:ext cx="1460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交互逻辑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处理复杂的生命周期与事件触发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223000" y="2159000"/>
            <a:ext cx="5207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477000" y="2413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67500" y="2578100"/>
            <a:ext cx="431800" cy="431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239000" y="2514600"/>
            <a:ext cx="368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不干涉范围 (What it skips)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3556000"/>
            <a:ext cx="1460500" cy="2159000"/>
          </a:xfrm>
          <a:prstGeom prst="roundRect">
            <a:avLst>
              <a:gd name="adj" fmla="val 6956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896100" y="3937000"/>
            <a:ext cx="609600" cy="609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540500" y="4826000"/>
            <a:ext cx="133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CSS 样式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不预设任何颜色/间距</a:t>
            </a:r>
          </a:p>
        </p:txBody>
      </p:sp>
      <p:sp>
        <p:nvSpPr>
          <p:cNvPr id="28" name="AutoShape 28"/>
          <p:cNvSpPr/>
          <p:nvPr/>
        </p:nvSpPr>
        <p:spPr>
          <a:xfrm>
            <a:off x="8102600" y="3556000"/>
            <a:ext cx="1460500" cy="2159000"/>
          </a:xfrm>
          <a:prstGeom prst="roundRect">
            <a:avLst>
              <a:gd name="adj" fmla="val 6956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21700" y="3937000"/>
            <a:ext cx="609600" cy="609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8166100" y="4826000"/>
            <a:ext cx="133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UI 风格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不绑定任何设计系统</a:t>
            </a:r>
          </a:p>
        </p:txBody>
      </p:sp>
      <p:sp>
        <p:nvSpPr>
          <p:cNvPr id="31" name="AutoShape 31"/>
          <p:cNvSpPr/>
          <p:nvPr/>
        </p:nvSpPr>
        <p:spPr>
          <a:xfrm>
            <a:off x="9715500" y="3556000"/>
            <a:ext cx="1460500" cy="2159000"/>
          </a:xfrm>
          <a:prstGeom prst="roundRect">
            <a:avLst>
              <a:gd name="adj" fmla="val 6956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134600" y="3937000"/>
            <a:ext cx="609600" cy="6096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9779000" y="4826000"/>
            <a:ext cx="133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固定 DOM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不强制特定的HTML结构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架构范式：从耦合到解耦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传统组件库 (Traditional)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43000" y="3175000"/>
            <a:ext cx="4445000" cy="1270000"/>
          </a:xfrm>
          <a:prstGeom prst="roundRect">
            <a:avLst>
              <a:gd name="adj" fmla="val 8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143000" y="3429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逻辑 + 样式 + DOM 渲染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826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黑盒封装 · 强耦合 · 不可拆分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Headless UI 分层架构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794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 l="12471" r="12471"/>
          <a:stretch>
            <a:fillRect/>
          </a:stretch>
        </p:blipFill>
        <p:spPr>
          <a:xfrm>
            <a:off x="6667500" y="2921000"/>
            <a:ext cx="6350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7493000" y="2921000"/>
            <a:ext cx="342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行为逻辑层 (Logic)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由 Radix UI / Headless UI 提供基础交互能力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477000" y="3937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67500" y="4064000"/>
            <a:ext cx="6350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7493000" y="4064000"/>
            <a:ext cx="342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视觉表现层 (Visual)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Tailwind CSS 实现像素级的样式定制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477000" y="5080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000" y="5245100"/>
            <a:ext cx="558800" cy="558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493000" y="5207000"/>
            <a:ext cx="342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业务逻辑层 (Business)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结合具体业务场景，自由扩展与组装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实战对比：Dropdown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2159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1336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传统 Select 组件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3048000"/>
            <a:ext cx="4445000" cy="1016000"/>
          </a:xfrm>
          <a:prstGeom prst="roundRect">
            <a:avLst>
              <a:gd name="adj" fmla="val 1000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70000" y="3302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&lt;Select /&gt;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43000" y="4572000"/>
            <a:ext cx="444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样式与内部结构均由组件库强绑定，开发者难以介入。若需定制复杂的视觉风格或交互逻辑，往往需要进行大量的样式覆盖或二次开发，整体定制成本极高。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2159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239000" y="21336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Headless 模式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0" y="3048000"/>
            <a:ext cx="4445000" cy="1016000"/>
          </a:xfrm>
          <a:prstGeom prst="roundRect">
            <a:avLst>
              <a:gd name="adj" fmla="val 10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731000" y="3302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&lt;Menu&gt;{({ open }) =&gt; ...}&lt;/Menu&gt;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0" y="4572000"/>
            <a:ext cx="444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剥离视觉表现，只提供交互逻辑。开发者可以完全掌控 DOM 结构、样式细节和页面布局，不再受限于组件库预设，实现</a:t>
            </a: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100% 贴合业务的个性化设计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Headless UI 核心价值：为什么是 Design System 基础？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2540000" cy="4064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4800" y="2413000"/>
            <a:ext cx="914400" cy="914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3683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逻辑复用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46990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一套逻辑，多套视觉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极大提升开发与设计效率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556000" y="2032000"/>
            <a:ext cx="2540000" cy="4064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8800" y="2413000"/>
            <a:ext cx="914400" cy="914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683000" y="3683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无障碍原生内置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83000" y="46990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严格符合 WAI-ARIA 标准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显著提升全人群用户体验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2032000"/>
            <a:ext cx="2540000" cy="4064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62800" y="2413000"/>
            <a:ext cx="914400" cy="914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477000" y="3683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无样式入侵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46990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完全无预设样式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完美适配团队现有的设计规范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144000" y="2032000"/>
            <a:ext cx="2540000" cy="4064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56800" y="2413000"/>
            <a:ext cx="914400" cy="914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271000" y="3683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逻辑与视觉分离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271000" y="46990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实现架构层面的解耦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提升代码可维护性与迭代速度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Tailwind 本质：不是原子 CSS，是 Design Token Runtime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4318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2286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159000" y="2222500"/>
            <a:ext cx="2667000" cy="1270000"/>
          </a:xfrm>
          <a:prstGeom prst="roundRect">
            <a:avLst>
              <a:gd name="adj" fmla="val 800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2222500" y="24765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class="p-4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rounded-xl text-sm"</a:t>
            </a:r>
          </a:p>
        </p:txBody>
      </p:sp>
      <p:sp>
        <p:nvSpPr>
          <p:cNvPr id="8" name="AutoShape 8"/>
          <p:cNvSpPr/>
          <p:nvPr/>
        </p:nvSpPr>
        <p:spPr>
          <a:xfrm>
            <a:off x="889000" y="38100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这行简单的代码背后，映射的是一整套</a:t>
            </a:r>
            <a:b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看不见的“设计语言运行时”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461000" y="1905000"/>
            <a:ext cx="1905000" cy="3048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2500" y="2159000"/>
            <a:ext cx="762000" cy="762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524500" y="3175000"/>
            <a:ext cx="177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Spacing Scale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间距规范</a:t>
            </a:r>
          </a:p>
          <a:p>
            <a:pPr indent="0" algn="ctr">
              <a:lnSpc>
                <a:spcPct val="125000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统一内/外边距度量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消除布局随意性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0" y="1905000"/>
            <a:ext cx="1905000" cy="3048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91500" y="2159000"/>
            <a:ext cx="762000" cy="762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683500" y="3175000"/>
            <a:ext cx="177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Radius Scale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圆角规范</a:t>
            </a:r>
          </a:p>
          <a:p>
            <a:pPr indent="0" algn="ctr">
              <a:lnSpc>
                <a:spcPct val="125000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建立一致的圆角半径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统一界面柔和度</a:t>
            </a:r>
          </a:p>
        </p:txBody>
      </p:sp>
      <p:sp>
        <p:nvSpPr>
          <p:cNvPr id="15" name="AutoShape 15"/>
          <p:cNvSpPr/>
          <p:nvPr/>
        </p:nvSpPr>
        <p:spPr>
          <a:xfrm>
            <a:off x="9779000" y="1905000"/>
            <a:ext cx="1905000" cy="3048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50500" y="2159000"/>
            <a:ext cx="762000" cy="762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842500" y="3175000"/>
            <a:ext cx="177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Typography Scale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排版规范</a:t>
            </a:r>
          </a:p>
          <a:p>
            <a:pPr indent="0" algn="ctr">
              <a:lnSpc>
                <a:spcPct val="125000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标准化字号与行高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保证阅读体验一致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62000" y="5334000"/>
            <a:ext cx="10922000" cy="1143000"/>
          </a:xfrm>
          <a:prstGeom prst="roundRect">
            <a:avLst>
              <a:gd name="adj" fmla="val 17777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62000" y="55245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用“统一约束” 替代 “无限制自由”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Tailwind 解决团队问题：传统 CSS VS Tailwind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2159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1336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传统 CSS 的困境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79500" y="30480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🔴</a:t>
            </a:r>
            <a:r>
              <a:rPr lang="en-US" sz="15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随意数值：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13px / 15px / 17px 等非标准间距，像素级还原难</a:t>
            </a:r>
            <a:endParaRPr lang="en-US" sz="1100"/>
          </a:p>
          <a:p>
            <a:pPr indent="0" algn="l">
              <a:lnSpc>
                <a:spcPct val="133333"/>
              </a:lnSpc>
            </a:pP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🔴</a:t>
            </a:r>
            <a:r>
              <a:rPr lang="en-US" sz="15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随意命名：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home-wrapper-container 等冗长且无意义的命名</a:t>
            </a:r>
          </a:p>
        </p:txBody>
      </p:sp>
      <p:sp>
        <p:nvSpPr>
          <p:cNvPr id="8" name="AutoShape 8"/>
          <p:cNvSpPr/>
          <p:nvPr/>
        </p:nvSpPr>
        <p:spPr>
          <a:xfrm>
            <a:off x="1079500" y="4699000"/>
            <a:ext cx="4572000" cy="1143000"/>
          </a:xfrm>
          <a:prstGeom prst="roundRect">
            <a:avLst>
              <a:gd name="adj" fmla="val 8888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270000" y="4889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结果：设计系统失控 · 团队协作混乱 · 代码维护困难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2159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112000" y="21336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Tailwind 的优势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40500" y="30480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🟢</a:t>
            </a:r>
            <a:r>
              <a:rPr lang="en-US" sz="15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统一 Token：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基于设计系统定义的全局约束，如 p-4、text-xl</a:t>
            </a:r>
            <a:endParaRPr lang="en-US" sz="1100"/>
          </a:p>
          <a:p>
            <a:pPr indent="0" algn="l">
              <a:lnSpc>
                <a:spcPct val="133333"/>
              </a:lnSpc>
            </a:pP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🟢</a:t>
            </a:r>
            <a:r>
              <a:rPr lang="en-US" sz="15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无命名歧义：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直接使用语义化工具类，告别“类名纠结症”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540500" y="4699000"/>
            <a:ext cx="4572000" cy="1143000"/>
          </a:xfrm>
          <a:prstGeom prst="roundRect">
            <a:avLst>
              <a:gd name="adj" fmla="val 8888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731000" y="4889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结果：团队一致性拉满 · 大型项目高度可控 · 开发提效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Tailwind + Design System：Tailwind = 设计系统运行时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2286000" cy="3556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9500" y="2540000"/>
            <a:ext cx="1651000" cy="165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889000" y="4572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Utility-First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CSS Framework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556000" y="2032000"/>
            <a:ext cx="393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10000" y="24765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699000" y="23495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主题中心化配置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tailwind.config.js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中集中管理所有颜色、间距、字体等核心设计令牌，统一维护。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747000" y="2032000"/>
            <a:ext cx="393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01000" y="2476500"/>
            <a:ext cx="635000" cy="635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890000" y="23495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一键换肤 · 全局生效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基于配置文件的变量化管理，修改一处即可实现全站主题色、风格的快速切换与生效。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556000" y="4191000"/>
            <a:ext cx="393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10000" y="4635500"/>
            <a:ext cx="635000" cy="635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699000" y="45085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设计 Token 映射代码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将设计工具中的 Token 无缝同步至 Tailwind 配置，消除设计与代码实现间的“翻译”误差。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747000" y="4191000"/>
            <a:ext cx="393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01000" y="4635500"/>
            <a:ext cx="635000" cy="635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890000" y="45085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设计研发一体化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打通产研链路，让设计系统真正“活”在代码中，实现前端开发与视觉设计的高效协同。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F293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Tailwind 并不是在消灭 CSS，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302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而是在消灭</a:t>
            </a:r>
            <a:r>
              <a:rPr lang="en-US" sz="64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失控的 CSS</a:t>
            </a:r>
            <a:r>
              <a:rPr lang="en-US" sz="6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5334000"/>
            <a:ext cx="1016000" cy="76200"/>
          </a:xfrm>
          <a:prstGeom prst="roundRect">
            <a:avLst>
              <a:gd name="adj" fmla="val 5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87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shadcn/ui 核心创新：不是组件库，是资产方案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271" r="271"/>
          <a:stretch>
            <a:fillRect/>
          </a:stretch>
        </p:blipFill>
        <p:spPr>
          <a:xfrm>
            <a:off x="8890000" y="609600"/>
            <a:ext cx="25400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1778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2032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19685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核心逻辑：不安装依赖，直接复制源码到项目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打破传统“依赖-升级”的束缚，将组件所有权完全交还给开发者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3683000"/>
            <a:ext cx="762000" cy="762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2032000" y="35560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传统 UI 组件库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你 适配 组件库</a:t>
            </a:r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被库的版本、API、设计语言限制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23000" y="3302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3683000"/>
            <a:ext cx="762000" cy="762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493000" y="35560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BEAFE"/>
                </a:solidFill>
                <a:latin typeface="Noto Sans SC"/>
                <a:ea typeface="Noto Sans SC"/>
                <a:cs typeface="Noto Sans SC"/>
                <a:sym typeface="Noto Sans SC"/>
              </a:rPr>
              <a:t>shadcn/ui 资产方案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组件库 适配 你</a:t>
            </a:r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EFF6FF"/>
                </a:solidFill>
                <a:latin typeface="Noto Sans SC"/>
                <a:ea typeface="Noto Sans SC"/>
                <a:cs typeface="Noto Sans SC"/>
                <a:sym typeface="Noto Sans SC"/>
              </a:rPr>
              <a:t>完全掌控代码，随心修改、定制、扩展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5207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10B98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6000" y="5461000"/>
            <a:ext cx="635000" cy="635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032000" y="5397500"/>
            <a:ext cx="914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UI 资产化：从「第三方依赖」 ➔ 「团队自有资产」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 shadcn/ui 代表未来？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2298700"/>
            <a:ext cx="863600" cy="863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184400" y="2159000"/>
            <a:ext cx="342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无锁死 · 完全掌控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拒绝黑盒封装，所有代码完全开放。你想怎么改就怎么改，对组件实现拥有绝对的掌控权。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7800" y="2298700"/>
            <a:ext cx="863600" cy="863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645400" y="2159000"/>
            <a:ext cx="342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无升级包袱 · 轻松迭代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不依赖外部版本管理，代码直接驻留在你的项目中。从此告别版本冲突与破坏性升级的困扰。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6800" y="4711700"/>
            <a:ext cx="863600" cy="863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2184400" y="4572000"/>
            <a:ext cx="342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原生 Tailwind · 设计融合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Tailwind CSS 构建，与你的设计系统完美贴合。无需学习特定 API，定制样式像呼吸一样自然。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27800" y="4711700"/>
            <a:ext cx="863600" cy="863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645400" y="4572000"/>
            <a:ext cx="342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极致轻量 · 性能优异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没有运行时依赖，也没有冗余的抽象层代码。按需引入组件，体积更小，让应用保持卓越的运行性能。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shadcn/ui 价值总结：最大创新：Ownership（所有权）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2286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组件所有权回归业务团队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3937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而非被</a:t>
            </a:r>
            <a:r>
              <a:rPr lang="en-US" sz="3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第三方库绑架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0" y="54610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334000" y="5410200"/>
            <a:ext cx="609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这是前端 UI 交付方式的本质变革。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F293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shadcn/ui 最大的创新，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175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不是组件，而是 ownership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461000" y="5080000"/>
            <a:ext cx="1270000" cy="76200"/>
          </a:xfrm>
          <a:prstGeom prst="roundRect">
            <a:avLst>
              <a:gd name="adj" fmla="val 5000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0" y="558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REDEFINING COMPONENT OWNERSHIP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 时代 UI 变革：AI Coding 重新定义 UI 开发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02000" cy="3810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2413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01800" y="2413000"/>
            <a:ext cx="203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 最擅长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3429000"/>
            <a:ext cx="26924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高度</a:t>
            </a: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的代码结构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基于 Design Token 的规范化定义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逻辑清晰、语义明确的指令与代码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2032000"/>
            <a:ext cx="3302000" cy="3810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9800" y="2413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384800" y="2413000"/>
            <a:ext cx="203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 最头疼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749800" y="3429000"/>
            <a:ext cx="26924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天马行空的自定义命名规范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隐式的、不可预测的复杂业务逻辑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依赖上下文的高度个性化的代码风格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28000" y="2032000"/>
            <a:ext cx="3302000" cy="3810000"/>
          </a:xfrm>
          <a:prstGeom prst="roundRect">
            <a:avLst>
              <a:gd name="adj" fmla="val 4615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32800" y="2413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067800" y="2413000"/>
            <a:ext cx="203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Tailwind CSS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432800" y="3429000"/>
            <a:ext cx="26924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FACC15"/>
                </a:solidFill>
                <a:latin typeface="Noto Sans SC"/>
                <a:ea typeface="Noto Sans SC"/>
                <a:cs typeface="Noto Sans SC"/>
                <a:sym typeface="Noto Sans SC"/>
              </a:rPr>
              <a:t>AI 时代最友好的 UI DSL</a:t>
            </a:r>
            <a:endParaRPr lang="en-US" sz="1100"/>
          </a:p>
          <a:p>
            <a:pPr indent="0" algn="l">
              <a:lnSpc>
                <a:spcPct val="133333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✅ 逻辑清晰，高度可预测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✅ 原子化，指令易于生成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✅ 规则明确，便于模型推理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✅ 样式复用，支持批量产出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 + shadcn/ui 工作流：新一代开发方式 · AI 一键生成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🛠️ 推荐 AI 工具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2540000"/>
            <a:ext cx="609600" cy="609600"/>
          </a:xfrm>
          <a:prstGeom prst="roundRect">
            <a:avLst>
              <a:gd name="adj" fmla="val 16666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667000" y="2540000"/>
            <a:ext cx="609600" cy="609600"/>
          </a:xfrm>
          <a:prstGeom prst="roundRect">
            <a:avLst>
              <a:gd name="adj" fmla="val 16666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rcRect l="21875" r="21874"/>
          <a:stretch>
            <a:fillRect/>
          </a:stretch>
        </p:blipFill>
        <p:spPr>
          <a:xfrm>
            <a:off x="4191000" y="2540000"/>
            <a:ext cx="1270000" cy="609600"/>
          </a:xfrm>
          <a:prstGeom prst="roundRect">
            <a:avLst>
              <a:gd name="adj" fmla="val 1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762000" y="3556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16000" y="3810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📝 输入指令：</a:t>
            </a:r>
            <a:r>
              <a:rPr lang="en-US" sz="16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生成一个</a:t>
            </a: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现代化、功能完整的 SaaS 后台首页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953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16000" y="5143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🚀 核心代码产出：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✅ Tailwind CSS 样式 | ✅ shadcn/ui 组件库 | ✅ 响应式布局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✅ 支持暗黑模式切换 | ✅ 可直接部署上线的完整代码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rcRect l="8333" r="8333"/>
          <a:stretch>
            <a:fillRect/>
          </a:stretch>
        </p:blipFill>
        <p:spPr>
          <a:xfrm>
            <a:off x="6350000" y="1778000"/>
            <a:ext cx="5080000" cy="4572000"/>
          </a:xfrm>
          <a:prstGeom prst="roundRect">
            <a:avLst>
              <a:gd name="adj" fmla="val 4444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F293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AI 时代最重要的，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556000"/>
            <a:ext cx="1219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不是写 UI，而是定义 UI 系统。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未来四大趋势：下一代前端 UI 架构趋势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2476500" cy="4064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2476500" cy="11430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095500"/>
            <a:ext cx="2476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34290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无头化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4572000"/>
            <a:ext cx="209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逻辑与视觉彻底解耦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让后端专注于数据服务，前端灵活适配多端展示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1905000"/>
            <a:ext cx="2476500" cy="4064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492500" y="1905000"/>
            <a:ext cx="2476500" cy="11430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492500" y="2095500"/>
            <a:ext cx="2476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19500" y="34290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Token 化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83000" y="4572000"/>
            <a:ext cx="209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Design System 成为核心基建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通过原子化 Token 实现设计与开发的高效协同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905000"/>
            <a:ext cx="2476500" cy="4064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223000" y="1905000"/>
            <a:ext cx="2476500" cy="11430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223000" y="2095500"/>
            <a:ext cx="2476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34290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 Native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13500" y="4572000"/>
            <a:ext cx="209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UI 开发以生成式为主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从“代码编写”向“意图描述”转变，提升开发效能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953500" y="1905000"/>
            <a:ext cx="2476500" cy="4064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953500" y="1905000"/>
            <a:ext cx="2476500" cy="11430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953500" y="2095500"/>
            <a:ext cx="2476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80500" y="34290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资产化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144000" y="4572000"/>
            <a:ext cx="209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组件成为团队自有可复用资产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沉淀业务逻辑，实现跨项目复用，降低维护成本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F293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未来前端工程师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2921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不再只是「写页面」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而是设计可组合、可生成、可扩展的 UI 系统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F293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40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未来的前端工程师，</a:t>
            </a:r>
            <a:endParaRPr lang="en-US" sz="1100"/>
          </a:p>
          <a:p>
            <a:pPr indent="0" algn="ctr">
              <a:lnSpc>
                <a:spcPct val="100000"/>
              </a:lnSpc>
              <a:spcBef>
                <a:spcPts val="4000"/>
              </a:spcBef>
            </a:pPr>
            <a:r>
              <a:rPr lang="en-US" sz="7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将越来越像 “</a:t>
            </a:r>
            <a:r>
              <a:rPr lang="en-US" sz="80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UI 架构师</a:t>
            </a:r>
            <a:r>
              <a:rPr lang="en-US" sz="7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实战 Demo：现场演示 3 个核心案例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81200" y="2413000"/>
            <a:ext cx="863600" cy="863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16000" y="3556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Antd VS shadcn/ui 对比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572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基于同一个通用卡片组件，直观对比两者在样式定制的效率与视觉自由度上的显著差异。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64200" y="2413000"/>
            <a:ext cx="863600" cy="863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699000" y="3556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Tailwind Token 一键换肤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4572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修改项目根目录的配置文件，无需逐个页面修改，即可实现全站色彩、圆角、间距等风格的同步生效。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47200" y="2413000"/>
            <a:ext cx="863600" cy="863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382000" y="3556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Cursor AI 现场生成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4572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输入简单的自然语言产品需求，AI 辅助工具仅需 10 秒，即可生成功能完整、可直接落地的后台管理页面。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落地建议 + 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6604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💡 团队落地最佳实践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6096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29210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032000" y="2794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推荐技术栈组合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Radix UI (组件基础) + Tailwind CSS (样式体系) + shadcn/ui (业务组件库)，实现“设计系统即代码”的高效协同。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1016000" y="3937000"/>
            <a:ext cx="6096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6500" y="4191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032000" y="4064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现代化工具链支持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Storybook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建立统一的组件文档与视觉测试，配合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Cursor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等 AI 工具提升开发效率与代码质量。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16000" y="5207000"/>
            <a:ext cx="6096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6500" y="54610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2032000" y="5334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渐进式迁移策略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新业务模块先行接入 → 核心功能逐步替换重构 → 最终实现全站技术栈与体验的全面统一。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0" y="1778000"/>
            <a:ext cx="3810000" cy="4318000"/>
          </a:xfrm>
          <a:prstGeom prst="roundRect">
            <a:avLst>
              <a:gd name="adj" fmla="val 400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620000" y="26670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4064000"/>
            <a:ext cx="2286000" cy="25400"/>
          </a:xfrm>
          <a:prstGeom prst="roundRect">
            <a:avLst>
              <a:gd name="adj" fmla="val 0"/>
            </a:avLst>
          </a:prstGeom>
          <a:solidFill>
            <a:srgbClr val="FFFFFF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620000" y="45720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2200" b="1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感谢聆听，欢迎交流</a:t>
            </a:r>
            <a:endParaRPr lang="en-US" sz="1100"/>
          </a:p>
          <a:p>
            <a:pPr indent="0" algn="ctr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LISTENING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1795</Words>
  <Application>Microsoft Office PowerPoint</Application>
  <PresentationFormat>宽屏</PresentationFormat>
  <Paragraphs>299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2" baseType="lpstr">
      <vt:lpstr>Noto Sans SC</vt:lpstr>
      <vt:lpstr>Arial</vt:lpstr>
      <vt:lpstr>Consolas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jinyan zhong</cp:lastModifiedBy>
  <cp:revision>1</cp:revision>
  <dcterms:modified xsi:type="dcterms:W3CDTF">2026-05-27T13:31:50Z</dcterms:modified>
</cp:coreProperties>
</file>